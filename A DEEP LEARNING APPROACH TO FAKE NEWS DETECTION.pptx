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Poppins"/>
      <p:bold r:id="rId18"/>
      <p:boldItalic r:id="rId19"/>
    </p:embeddedFont>
    <p:embeddedFont>
      <p:font typeface="Meddon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sn6wXYcGidRz84BXQi1nV2IC/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ddon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11722" y="2531693"/>
            <a:ext cx="15264557" cy="888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DEEP LEARNING APPROACH TO FAKE NEWS DETECTION</a:t>
            </a:r>
            <a:endParaRPr b="1" i="0" sz="4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3419252" y="4605655"/>
            <a:ext cx="1144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Sangamitra Balakumarasenthil, Dharshani Anandkumar</a:t>
            </a:r>
            <a:endParaRPr sz="1600"/>
          </a:p>
        </p:txBody>
      </p:sp>
      <p:sp>
        <p:nvSpPr>
          <p:cNvPr id="86" name="Google Shape;86;p1"/>
          <p:cNvSpPr txBox="1"/>
          <p:nvPr/>
        </p:nvSpPr>
        <p:spPr>
          <a:xfrm>
            <a:off x="5332363" y="5219700"/>
            <a:ext cx="762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 Presentation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1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028700" y="933450"/>
            <a:ext cx="438150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1028700" y="2209483"/>
            <a:ext cx="17259300" cy="13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Statement:</a:t>
            </a: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4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Fake news undermines public trust and can influence elections, health decisions, and social stability.</a:t>
            </a:r>
            <a:endParaRPr b="0" i="0" sz="3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028700" y="4025015"/>
            <a:ext cx="15700772" cy="2005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Current Challenge</a:t>
            </a: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Manual detection is slow and subjective; scalable AI-based systems are needed to handle large-scale misinformation.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1028700" y="6494824"/>
            <a:ext cx="15309600" cy="23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4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Goal</a:t>
            </a:r>
            <a:r>
              <a:rPr b="0" i="0" lang="en-US" sz="394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Build a deep learning-based model that classifies news headlines as real or fake using natural language features.</a:t>
            </a:r>
            <a:endParaRPr b="0" i="0" sz="3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1028700" y="933450"/>
            <a:ext cx="438150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1028700" y="2390382"/>
            <a:ext cx="16678360" cy="540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NLP and deep learning have shown success in text classification tasks.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Models like BiLSTM, GRU, and CNN are effective in capturing semantic patterns in short texts.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Contribution: </a:t>
            </a:r>
            <a:r>
              <a:rPr b="0" i="0" lang="en-US" sz="3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Benchmark and compare multiple deep learning models on a labeled fake news dataset using only headline input.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2004680" y="285476"/>
            <a:ext cx="4307979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32141" r="32064" t="0"/>
          <a:stretch/>
        </p:blipFill>
        <p:spPr>
          <a:xfrm>
            <a:off x="13335000" y="952500"/>
            <a:ext cx="3733800" cy="8679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457200" y="1322225"/>
            <a:ext cx="13869502" cy="8679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Pipeline Overview</a:t>
            </a: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Dataset Collection: Merge True.csv and Fake.csv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Preprocessing: Clean, tokenize, and pad headline text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Train-Test Split: 80% train, 20% test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 Selection: BiLSTM, GRU, CNN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 Training: 6 epochs, binary </a:t>
            </a: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cross entropy</a:t>
            </a:r>
            <a:endParaRPr b="0" i="0" sz="3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Evaluation: Accuracy, Precision, Recall, F1-score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AutoNum type="arabicPeriod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 Interface: Gradio-based prediction interface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/>
        </p:nvSpPr>
        <p:spPr>
          <a:xfrm>
            <a:off x="872900" y="494725"/>
            <a:ext cx="8619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and Preprocessing</a:t>
            </a:r>
            <a:endParaRPr/>
          </a:p>
        </p:txBody>
      </p:sp>
      <p:sp>
        <p:nvSpPr>
          <p:cNvPr id="114" name="Google Shape;114;p5"/>
          <p:cNvSpPr txBox="1"/>
          <p:nvPr/>
        </p:nvSpPr>
        <p:spPr>
          <a:xfrm>
            <a:off x="1371250" y="1529700"/>
            <a:ext cx="17274900" cy="82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 Balanced mix of real and fake headlines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Cleaning Steps:</a:t>
            </a:r>
            <a:endParaRPr/>
          </a:p>
          <a:p>
            <a:pPr indent="-571500" lvl="0" marL="57150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9"/>
              <a:buFont typeface="Arial"/>
              <a:buChar char="•"/>
            </a:pPr>
            <a:r>
              <a:rPr b="1" i="0" lang="en-US" sz="35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Lowercasing</a:t>
            </a:r>
            <a:endParaRPr/>
          </a:p>
          <a:p>
            <a:pPr indent="-571500" lvl="0" marL="57150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9"/>
              <a:buFont typeface="Arial"/>
              <a:buChar char="•"/>
            </a:pPr>
            <a:r>
              <a:rPr b="1" i="0" lang="en-US" sz="35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Punctuation &amp; special character removal</a:t>
            </a:r>
            <a:endParaRPr/>
          </a:p>
          <a:p>
            <a:pPr indent="-571500" lvl="0" marL="57150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9"/>
              <a:buFont typeface="Arial"/>
              <a:buChar char="•"/>
            </a:pPr>
            <a:r>
              <a:rPr b="1" i="0" lang="en-US" sz="35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Tokenization using Keras</a:t>
            </a:r>
            <a:endParaRPr b="1" i="0" sz="35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0" lvl="0" marL="57150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9"/>
              <a:buFont typeface="Arial"/>
              <a:buChar char="•"/>
            </a:pPr>
            <a:r>
              <a:rPr b="1" i="0" lang="en-US" sz="35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Padding (max_len = 25)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Vocabulary Size: 10,000 words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Split: 80% train, 20% test</a:t>
            </a:r>
            <a:endParaRPr b="0" i="0" sz="35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/>
        </p:nvSpPr>
        <p:spPr>
          <a:xfrm>
            <a:off x="1143000" y="1638300"/>
            <a:ext cx="9296400" cy="775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Architectures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BiLSTM</a:t>
            </a: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Bidirectional LSTM for full sequence context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GRU</a:t>
            </a: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Lightweight recurrent unit with fewer parameters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CNN</a:t>
            </a: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1D convolutional layers to capture local patterns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 models use:</a:t>
            </a:r>
            <a:endParaRPr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Embedding layer (128D)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Dropout (0.5)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Sigmoid-activated dense output</a:t>
            </a:r>
            <a:endParaRPr/>
          </a:p>
          <a:p>
            <a:pPr indent="0" lvl="0" marL="0" marR="0" rtl="0" algn="just">
              <a:lnSpc>
                <a:spcPct val="1135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4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10287000" y="2465844"/>
            <a:ext cx="72390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</a:pPr>
            <a:r>
              <a:rPr b="1"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Hyperparameters and Training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Optimizer: Adam</a:t>
            </a:r>
            <a:endParaRPr/>
          </a:p>
          <a:p>
            <a:pPr indent="-228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Loss: Binary </a:t>
            </a: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Cross Entropy</a:t>
            </a:r>
            <a:endParaRPr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Epochs: 6</a:t>
            </a:r>
            <a:endParaRPr/>
          </a:p>
          <a:p>
            <a:pPr indent="-228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Batch Size: 64</a:t>
            </a:r>
            <a:endParaRPr/>
          </a:p>
          <a:p>
            <a:pPr indent="-228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Dropout: 0.5</a:t>
            </a:r>
            <a:endParaRPr/>
          </a:p>
          <a:p>
            <a:pPr indent="-228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Metric: Accuracy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/>
        </p:nvSpPr>
        <p:spPr>
          <a:xfrm>
            <a:off x="1028700" y="933450"/>
            <a:ext cx="666750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Evaluation Metrics</a:t>
            </a:r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1238250" y="2324100"/>
            <a:ext cx="546735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Metrics Used</a:t>
            </a: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Accuracy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Precision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Recall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F1-Score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Confusion Matrix</a:t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7239000" y="1754713"/>
            <a:ext cx="10363200" cy="7971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Accuracy</a:t>
            </a:r>
            <a:r>
              <a:rPr b="0" i="0" lang="en-US" sz="32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reflects the overall correctness of the model by measuring the proportion of all correctly classified instances.</a:t>
            </a:r>
            <a:endParaRPr/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3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Precision</a:t>
            </a:r>
            <a:r>
              <a:rPr b="0" i="0" lang="en-US" sz="32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measures how many of the samples predicted as fake were actually fake, which is crucial when minimizing false alarms.</a:t>
            </a:r>
            <a:endParaRPr/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3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Recall</a:t>
            </a:r>
            <a:r>
              <a:rPr b="0" i="0" lang="en-US" sz="32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evaluates the model’s ability to identify actual fake news correctly, helping to measure how well the model reduces missed detections.</a:t>
            </a:r>
            <a:endParaRPr/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03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F1-score</a:t>
            </a:r>
            <a:r>
              <a:rPr b="0" i="0" lang="en-US" sz="32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the harmonic mean of precision and recall, provides a balanced view, especially when class distribution is not perfectly equal.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042307" y="6222980"/>
            <a:ext cx="61722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 </a:t>
            </a:r>
            <a:r>
              <a:rPr b="1"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recall</a:t>
            </a: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essential in fake news detection because it reduces the risk of harmful misinformation being missed by the system.</a:t>
            </a:r>
            <a:endParaRPr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/>
        </p:nvSpPr>
        <p:spPr>
          <a:xfrm>
            <a:off x="1028700" y="933450"/>
            <a:ext cx="959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</a:rPr>
              <a:t>Results: BiLSTM</a:t>
            </a:r>
            <a:endParaRPr b="1" sz="5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1028700" y="2233901"/>
            <a:ext cx="8496300" cy="376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8311" lvl="1" marL="576625" marR="0" rtl="0" algn="just">
              <a:lnSpc>
                <a:spcPct val="10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Accuracy: 92.3%</a:t>
            </a:r>
            <a:endParaRPr/>
          </a:p>
          <a:p>
            <a:pPr indent="-288311" lvl="1" marL="576625" marR="0" rtl="0" algn="just">
              <a:lnSpc>
                <a:spcPct val="10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Precision (Fake): 91.91%</a:t>
            </a:r>
            <a:endParaRPr/>
          </a:p>
          <a:p>
            <a:pPr indent="-288311" lvl="1" marL="576625" marR="0" rtl="0" algn="just">
              <a:lnSpc>
                <a:spcPct val="10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Recall (Fake): 92.64%</a:t>
            </a:r>
            <a:endParaRPr/>
          </a:p>
          <a:p>
            <a:pPr indent="-288311" lvl="1" marL="576625" marR="0" rtl="0" algn="just">
              <a:lnSpc>
                <a:spcPct val="10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Insight: Balanced performance, best overall classifier</a:t>
            </a:r>
            <a:endParaRPr/>
          </a:p>
          <a:p>
            <a:pPr indent="-288311" lvl="1" marL="576625" marR="0" rtl="0" algn="just">
              <a:lnSpc>
                <a:spcPct val="10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Handles context well due to bidirectional LSTM layers</a:t>
            </a:r>
            <a:endParaRPr b="0" i="0" sz="3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6170276"/>
            <a:ext cx="8343900" cy="3325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9800" y="1333499"/>
            <a:ext cx="7796005" cy="6460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/>
        </p:nvSpPr>
        <p:spPr>
          <a:xfrm>
            <a:off x="1168126" y="933450"/>
            <a:ext cx="9593099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Results: CNN</a:t>
            </a:r>
            <a:endParaRPr/>
          </a:p>
        </p:txBody>
      </p:sp>
      <p:sp>
        <p:nvSpPr>
          <p:cNvPr id="142" name="Google Shape;142;p9"/>
          <p:cNvSpPr txBox="1"/>
          <p:nvPr/>
        </p:nvSpPr>
        <p:spPr>
          <a:xfrm>
            <a:off x="1028700" y="2342474"/>
            <a:ext cx="9025432" cy="9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70">
              <a:solidFill>
                <a:srgbClr val="000000"/>
              </a:solidFill>
              <a:latin typeface="Meddon"/>
              <a:ea typeface="Meddon"/>
              <a:cs typeface="Meddon"/>
              <a:sym typeface="Meddon"/>
            </a:endParaRPr>
          </a:p>
          <a:p>
            <a:pPr indent="0" lvl="0" marL="0" marR="0" rtl="0" algn="just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38200" y="2074956"/>
            <a:ext cx="85344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•"/>
            </a:pPr>
            <a:r>
              <a:rPr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Accuracy: 89.16%</a:t>
            </a:r>
            <a:endParaRPr/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•"/>
            </a:pPr>
            <a:r>
              <a:rPr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Precision: 89.65%</a:t>
            </a:r>
            <a:endParaRPr/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•"/>
            </a:pPr>
            <a:r>
              <a:rPr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Recall: 88.35%</a:t>
            </a:r>
            <a:endParaRPr/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•"/>
            </a:pPr>
            <a:r>
              <a:rPr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Insight: Fast and efficient</a:t>
            </a:r>
            <a:endParaRPr/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Char char="•"/>
            </a:pPr>
            <a:r>
              <a:rPr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Slightly weaker recall</a:t>
            </a:r>
            <a:r>
              <a:rPr lang="en-US"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;</a:t>
            </a:r>
            <a:r>
              <a:rPr i="0" lang="en-US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good for real-time prediction with trade-offs</a:t>
            </a:r>
            <a:endParaRPr/>
          </a:p>
        </p:txBody>
      </p:sp>
      <p:pic>
        <p:nvPicPr>
          <p:cNvPr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4968" y="723900"/>
            <a:ext cx="7985799" cy="66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086" y="6013205"/>
            <a:ext cx="8294914" cy="3399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/>
        </p:nvSpPr>
        <p:spPr>
          <a:xfrm>
            <a:off x="1168126" y="933450"/>
            <a:ext cx="959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</a:rPr>
              <a:t>Results: GRU</a:t>
            </a:r>
            <a:endParaRPr b="1" sz="5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719547" y="2068757"/>
            <a:ext cx="8881653" cy="376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8311" lvl="1" marL="576625" marR="0" rtl="0" algn="just">
              <a:lnSpc>
                <a:spcPct val="10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Accuracy: 91.69%</a:t>
            </a:r>
            <a:endParaRPr/>
          </a:p>
          <a:p>
            <a:pPr indent="-288311" lvl="1" marL="576625" marR="0" rtl="0" algn="just">
              <a:lnSpc>
                <a:spcPct val="10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Precision: 91.93%</a:t>
            </a:r>
            <a:endParaRPr/>
          </a:p>
          <a:p>
            <a:pPr indent="-288311" lvl="1" marL="576625" marR="0" rtl="0" algn="just">
              <a:lnSpc>
                <a:spcPct val="10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Recall: 91.26%</a:t>
            </a:r>
            <a:endParaRPr/>
          </a:p>
          <a:p>
            <a:pPr indent="-288311" lvl="1" marL="576625" marR="0" rtl="0" algn="just">
              <a:lnSpc>
                <a:spcPct val="10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Insight: Nearly as good as BiLSTM with fewer parameters</a:t>
            </a:r>
            <a:endParaRPr/>
          </a:p>
          <a:p>
            <a:pPr indent="-288311" lvl="1" marL="576625" marR="0" rtl="0" algn="just">
              <a:lnSpc>
                <a:spcPct val="1038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Suitable for mobile/embedded deployment</a:t>
            </a:r>
            <a:endParaRPr b="0" i="0" sz="3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0" y="1784818"/>
            <a:ext cx="7594874" cy="630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8126" y="6286500"/>
            <a:ext cx="8128274" cy="3187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/>
        </p:nvSpPr>
        <p:spPr>
          <a:xfrm>
            <a:off x="1028700" y="933450"/>
            <a:ext cx="3624411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159" name="Google Shape;159;p12"/>
          <p:cNvSpPr txBox="1"/>
          <p:nvPr/>
        </p:nvSpPr>
        <p:spPr>
          <a:xfrm>
            <a:off x="1220167" y="2361565"/>
            <a:ext cx="16426011" cy="403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 models can classify fake vs. real headlines with high accuracy.</a:t>
            </a:r>
            <a:endParaRPr/>
          </a:p>
          <a:p>
            <a:pPr indent="-1689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BiLSTM is most accurate; GRU is efficient for deployment.</a:t>
            </a:r>
            <a:endParaRPr/>
          </a:p>
          <a:p>
            <a:pPr indent="-1689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 is lightweight but trades off some performance.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1028700" y="933450"/>
            <a:ext cx="575310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/>
          </a:p>
        </p:txBody>
      </p:sp>
      <p:sp>
        <p:nvSpPr>
          <p:cNvPr id="165" name="Google Shape;165;p13"/>
          <p:cNvSpPr txBox="1"/>
          <p:nvPr/>
        </p:nvSpPr>
        <p:spPr>
          <a:xfrm>
            <a:off x="1028700" y="2496820"/>
            <a:ext cx="17259300" cy="5245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2742" lvl="1" marL="905485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94"/>
              <a:buFont typeface="Arial"/>
              <a:buChar char="•"/>
            </a:pPr>
            <a:r>
              <a:rPr b="0" i="0" lang="en-US" sz="4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to full-text articles, not just headlines</a:t>
            </a:r>
            <a:endParaRPr/>
          </a:p>
          <a:p>
            <a:pPr indent="-186423" lvl="1" marL="905485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94"/>
              <a:buFont typeface="Arial"/>
              <a:buNone/>
            </a:pPr>
            <a:r>
              <a:t/>
            </a:r>
            <a:endParaRPr b="0" i="0" sz="41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2742" lvl="1" marL="905485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94"/>
              <a:buFont typeface="Arial"/>
              <a:buChar char="•"/>
            </a:pPr>
            <a:r>
              <a:rPr b="0" i="0" lang="en-US" sz="4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explainability tools (e.g., attention layers, SHAP)</a:t>
            </a:r>
            <a:endParaRPr/>
          </a:p>
          <a:p>
            <a:pPr indent="-186423" lvl="1" marL="905485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94"/>
              <a:buFont typeface="Arial"/>
              <a:buNone/>
            </a:pPr>
            <a:r>
              <a:t/>
            </a:r>
            <a:endParaRPr b="0" i="0" sz="41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2742" lvl="1" marL="905485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94"/>
              <a:buFont typeface="Arial"/>
              <a:buChar char="•"/>
            </a:pPr>
            <a:r>
              <a:rPr b="0" i="0" lang="en-US" sz="4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 on real-time dashboards or social platforms</a:t>
            </a:r>
            <a:endParaRPr/>
          </a:p>
          <a:p>
            <a:pPr indent="-186423" lvl="1" marL="905485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94"/>
              <a:buFont typeface="Arial"/>
              <a:buNone/>
            </a:pPr>
            <a:r>
              <a:t/>
            </a:r>
            <a:endParaRPr b="0" i="0" sz="41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2742" lvl="1" marL="905485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94"/>
              <a:buFont typeface="Arial"/>
              <a:buChar char="•"/>
            </a:pPr>
            <a:r>
              <a:rPr b="0" i="0" lang="en-US" sz="419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Extend to multilingual fake news detection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